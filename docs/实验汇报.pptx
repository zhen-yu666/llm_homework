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各位老师同学好，我汇报的是第 9 章检索增强生成的课程实践。这次作业不是简单跑通一个 RAG，而是把索引、检索前优化、检索、检索后优化、生成、编排六个模块逐个拆开，用实验数据说明每个模块到底有没有用、在什么情况下有用。我会按 T1 到 T8 的顺序，重点讲清楚哪些杠杆是真收益、哪些是负优化。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这一页是整个实验的地图。我们没有把 RAG 当黑盒跑一遍，而是固定其他变量、单模块做消融。T1 先建立 RAG 相对裸 LLM 的基线，T2 到 T5 分别测索引、检索前、检索、检索后四个阶段的杠杆，T7 做整系统分层评估，T8-1 是加分的幻觉治理。所有结论都挂在 Recall@k、MRR、Correctness、Faithfulness 这几个可复算的指标上。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数据上有两个关键选择。语料我们专门挑了 LangChain v1 的新文档，而不是通用百科——因为 v1 新 API 不在大模型预训练记忆里，这样 RAG 的增益才能被真实观察到。评测集 25 条按课件 9.1.2 的 RAG 任务分成 L1 到 L4 四级，每题都标了 gold_chunk_ids，这样 Recall@k 是可以机器复算的，不依赖人打分。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这是整体流水线。左边是报告里的流程图，右边是技术选型。生成用 qwen-plus，稠密向量用 text-embedding-v3 存 FAISS，稀疏路用 BM25，两路用 RRF 融合。每个模块都能在课件里找到对应章节——这不是我们自己拍脑袋拼的系统，而是按课件的章节顺序搭出来的，方便后面逐模块消融。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T1 是基线。我们做了一个很直白的对照：同样的问题，接不接检索。结论很清楚——裸 LLM 对通用知识没问题，但一碰到 v1 新 API 就系统性幻觉或干脆否认其存在，因为这些内容不在预训练里。RAG 正好补上这块。但我们也诚实记录了两个失败案例：q024 是检索没召对，q019 是召对了但生成拒答，这两个问题引导了后面的实验。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T2 是性价比最高的单项优化。我们固定检索和生成不动，只换切分方式做网格实验。结论非常明确：256 的小块明显优于 512 和 1024，最优配置 sliding-256-0 把 Recall@5 从默认 header 的 0.56 拉到 0.88。反直觉的一点是加 overlap 并没有带来收益——重复内容变多反而稀释了召回。原因是我们的语料本身就是一段一主题的短小技术文档，大块会把多个主题混在一起。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T3 测检索前优化。我们试了 query rewrite、multi-query、sub-query 三种改写，以及 RRF 融合。子查询分解提升最大，加了 0.16；改写和多查询各加 0.08。但有一个反例：把多查询和双路检索全堆上去，反而掉到 0.60——k 固定时多路融合会引入冗余。RRF 权重扫描显示稠密权重在 0.5 到 0.7 之间最优，纯稀疏和纯稠密都不如混合。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T4 横向对比三种检索器。自动脚本在 25 条里筛出 5 条单边胜负：稠密赢在语义相近但字面不重叠的问题上，稀疏赢在专有名词和钩子名上。混合检索在 Recall@5 和 MRR@10 都是最高的，但有个反直觉的发现：到了 Recall@10，稠密反而比混合还高——说明混合的价值主要在前几位排序，深召回单靠稠密就够了。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T5 是这组实验里最"打脸"的一页。我们预期重排能提升前三位准确率，但实际数据是：规则重排和 LLM Judge 都没动 Recall@3，Cross-Encoder 反而降到 0.40，延迟还高达 20 秒——因为模型逐条加载、CPU 推理。压缩确实把 context token 砍了 69%，但延迟 17.5 秒。结论是：在这种小规模中文语料上，重排和压缩不是免费的午餐，不能默认开。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T7 是把所有模块组合起来做整系统评估。总体 Recall@5 是 0.68，MRR 0.355，生成侧 Correctness 4.72、Faithfulness 4.92。分层看，生成侧已经很接近天花板，真正的短板在 L3 检索——Recall@5 只有 0.5、MRR 0.153；L4 生成正确性掉到 4.14，但忠实度还是 5.0，说明不是乱编，而是没答对。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T8-1 是加分项，参照课件 9.4.3 的 RAG-HAT 思路。我们在生成前加了一层信息充分性检测，先判断召回的片段够不够回答问题，不够就直接拒答。效果上幻觉率从 0.02 降到 0.01，忠实度从 4.92 升到 4.96，8% 的问题被拦截。数字变化不大，但我们认为这个设计的价值不在数字本身，而在于它避免了模型在证据不足时硬编答案。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这一页是整个实验的总账。真正有效的杠杆只有三个：分块策略、混合检索、子查询分解，它们都是低成本、结构性的改动。而 Cross-Encoder 重排、规则重排、上下文压缩这些听起来很"高级"的模块，在我们这种小规模中文语料上要么零收益、要么是负优化，还带来十几秒的延迟。共同规律是：结构性杠杆值钱，重模型杠杆要算延迟账。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这一页是我们在做 T7 时一个很重要的发现。最差的 5 条 Recall@5 都是 0，本来以为是检索器失效，但逐条核对 gold 片段原文后发现：4 条是 gold_chunk_ids 标错了——答案其实在相邻的另一个 chunk 里，有一条甚至引用了根本不存在的片段。唯一真实的生成失败是 q019。这提醒我们：评测集标注质量本身就是变量，Recall 被系统性低估了，先修标注再下结论。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最后是下一步。优先级第一是修评测集标注，这是其他一切结论的前提。第二是针对 L3 检索短板，上中文 rerank 并把模型常驻缓存，解决延迟问题。第三是 L4 生成正确性，换更强模型或 CoT 提示。第四是把评测集从 25 条扩到 40 到 60 条，做显著性讨论，避免把波动当结论。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最后总结一下这次实验最大的认知变化。我们最初以为 RAG 就是"拼一段上下文给大模型"，但做完这一组消融后认识到：检索质量才是上限。分块、混合检索、子查询这些结构性改动收益最大；而重排、压缩这些听起来高级的模块，在小语料上往往是负优化。RAG 真正解决的是模型不知道的私有和时效知识，幻觉治理的关键不是让模型更诚实，而是先判断证据够不够、不够就别答。我的汇报到这里，谢谢大家。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大规模语言模型：从理论到实践</a:t>
            </a:r>
            <a:r>
              <a:rPr lang="en-US" sz="1300" b="0" i="0" u="none" strike="noStrike" dirty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dirty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第 9 章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1041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检索增强生成（RAG）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模块级消融实验</a:t>
            </a:r>
          </a:p>
        </p:txBody>
      </p:sp>
      <p:cxnSp>
        <p:nvCxnSpPr>
          <p:cNvPr id="5" name="Connector 5"/>
          <p:cNvCxnSpPr/>
          <p:nvPr/>
        </p:nvCxnSpPr>
        <p:spPr>
          <a:xfrm rot="-28647">
            <a:off x="1016026" y="3930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41910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B8C4DC"/>
                </a:solidFill>
                <a:latin typeface="Noto Sans SC"/>
                <a:ea typeface="Noto Sans SC"/>
                <a:cs typeface="Noto Sans SC"/>
                <a:sym typeface="Noto Sans SC"/>
              </a:rPr>
              <a:t>拆解 索引 → 检索前优化 → 检索 → 检索后优化 → 生成 → 编排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700" b="0" i="0" u="none" strike="noStrike">
                <a:solidFill>
                  <a:srgbClr val="B8C4DC"/>
                </a:solidFill>
                <a:latin typeface="Noto Sans SC"/>
                <a:ea typeface="Noto Sans SC"/>
                <a:cs typeface="Noto Sans SC"/>
                <a:sym typeface="Noto Sans SC"/>
              </a:rPr>
              <a:t>用 25 条评测集回答：每个模块有没有用、在什么情况下有用</a:t>
            </a:r>
          </a:p>
        </p:txBody>
      </p:sp>
      <p:sp>
        <p:nvSpPr>
          <p:cNvPr id="7" name="AutoShape 7"/>
          <p:cNvSpPr/>
          <p:nvPr/>
        </p:nvSpPr>
        <p:spPr>
          <a:xfrm>
            <a:off x="1016000" y="5842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8C4DC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汇报人：刘嘉豪（12026219156）　·　同伴：成员 B　·　2026-09-28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OVERVIEW · 实验目标与任务地图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636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不是"跑通一个 RAG"，而是逐模块测量杠杆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8796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完成范围：T1–T5 必做 + T7 系统评估（选做其一）+ T8-1 幻觉治理（加分项）。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核心方法：固定其他变量，单模块做消融，以 Recall@k / MRR / Correctness / Faithfulness 衡量。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必做模块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T1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06500" y="34290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基线 RAG vs 裸 LLM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06500" y="37592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验证 RAG 对时效性知识的边际收益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937000" y="3429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T2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34290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分块策略网格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759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方法 × chunk_size × overlap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12000" y="3429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T3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556500" y="34290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查询改写与 RRF 融合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556500" y="3759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rewrite / multi_query / sub_query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572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T4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206500" y="45720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稀疏 / 稠密 / 混合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206500" y="4902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BM25 vs Embedding+FAISS vs RRF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937000" y="4572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T5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81500" y="45720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重排与压缩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81500" y="4902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规则 / Cross-Encoder / LLM Judge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12000" y="4572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T7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556500" y="4572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系统级评估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556500" y="49022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分层 L1–L4，检索 + 生成双侧指标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7150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T8-1　</a:t>
            </a:r>
            <a:r>
              <a:rPr lang="en-US" sz="14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加分项</a:t>
            </a: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信息充分性检测 / RAG-HAT 幻觉治理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口径：Recall@k = gold_chunk 命中数 / 总条数；MRR@10 = gold chunk 首次命中位置倒数均值；Correctness / Faithfulness 由 LLM-as-Judge 1–5 打分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DATASET · 语料与评测集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382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语料选 v1 新文档，评测集按 RAG 任务分级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619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D2 · 自建语料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622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26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496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篇 Markdown 文档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23622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139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31496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个 chunk（按 ## 切分）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508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34155"/>
              </a:buClr>
              <a:buChar char="•"/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来源：docs.langchain.com v1 新文档，抓取于 2026-09-26，约 3.08 万字符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34155"/>
              </a:buClr>
              <a:buChar char="•"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5 类主题：architecture / rag_retrieval / middleware / integrations / extensions</a:t>
            </a:r>
          </a:p>
          <a:p>
            <a:pPr marL="165100" indent="-165100" algn="l">
              <a:lnSpc>
                <a:spcPct val="141666"/>
              </a:lnSpc>
              <a:buClr>
                <a:srgbClr val="334155"/>
              </a:buClr>
              <a:buChar char="•"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选它的理由：v1 新 API 不在预训练记忆里，最能暴露 RAG 的真实增益</a:t>
            </a:r>
          </a:p>
        </p:txBody>
      </p:sp>
      <p:cxnSp>
        <p:nvCxnSpPr>
          <p:cNvPr id="11" name="Connector 11"/>
          <p:cNvCxnSpPr/>
          <p:nvPr/>
        </p:nvCxnSpPr>
        <p:spPr>
          <a:xfrm rot="5387722">
            <a:off x="4445000" y="3676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604000" y="1905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D3 · 自建评测集（25 条）</a:t>
            </a:r>
            <a:endParaRPr lang="en-US" sz="110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6604000" y="2413000"/>
          <a:ext cx="4826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等级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条数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显性事实查询（答案明文在单片段）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隐性事实查询（跨片段 / 简单推理）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可解释推理查询（需外部规则）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隐性推理查询（开放式 / 领域经验）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AutoShape 14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每条样本标注 gold_chunk_ids 用于 Recall@k 计算；L4 采用要点式评分标准。随机种子 seed=42。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ARCHITECTURE · 系统架构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六模块流水线，每一步都对应课件章节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162" r="162"/>
          <a:stretch>
            <a:fillRect/>
          </a:stretch>
        </p:blipFill>
        <p:spPr>
          <a:xfrm>
            <a:off x="1016000" y="1714500"/>
            <a:ext cx="2032000" cy="5016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3683000" y="2095500"/>
          <a:ext cx="7747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技术选型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关键参数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LLM 生成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qwen-plus（DashScope OpenAI 兼容）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temperature=0.0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Embedding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text-embedding-v3（DashScope）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批量 ≤ 10 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向量库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FAISS（CPU）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余弦 / 内积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稀疏检索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BM25（rank_bm25）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中英按字符 / 词切分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重排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bge-reranker-base / 规则 / LLM Judge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top-5 → top-3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融合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RRF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k=60, top-k=5, seed=42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3683000" y="5334000"/>
            <a:ext cx="774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课件映射：索引 9.2.1 · 检索前优化 9.6(p39-40)+9.2.2 · 检索 9.2.3 · 检索后 9.2.4 · 生成 9.6 · 幻觉检测 9.4.3 · 评估 9.5(p33-36)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C74E09A-14C9-532C-9301-DFCABF4B903E}"/>
              </a:ext>
            </a:extLst>
          </p:cNvPr>
          <p:cNvSpPr/>
          <p:nvPr/>
        </p:nvSpPr>
        <p:spPr>
          <a:xfrm>
            <a:off x="6464298" y="3565717"/>
            <a:ext cx="5349600" cy="101600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E03D9C0-31D0-4A7E-447F-54349BD99D0B}"/>
              </a:ext>
            </a:extLst>
          </p:cNvPr>
          <p:cNvSpPr/>
          <p:nvPr/>
        </p:nvSpPr>
        <p:spPr>
          <a:xfrm>
            <a:off x="6464298" y="2473517"/>
            <a:ext cx="5349600" cy="101600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51656FD-9BAF-4A78-B81C-2C8C7A573EC3}"/>
              </a:ext>
            </a:extLst>
          </p:cNvPr>
          <p:cNvSpPr/>
          <p:nvPr/>
        </p:nvSpPr>
        <p:spPr>
          <a:xfrm>
            <a:off x="627200" y="3581400"/>
            <a:ext cx="5349600" cy="101600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DF06F67-BF79-F5BC-2DD4-83E73CE82C61}"/>
              </a:ext>
            </a:extLst>
          </p:cNvPr>
          <p:cNvSpPr/>
          <p:nvPr/>
        </p:nvSpPr>
        <p:spPr>
          <a:xfrm>
            <a:off x="632102" y="2489200"/>
            <a:ext cx="5349600" cy="101600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762000" y="457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T1 · 基线对照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RAG 补上的是"模型没背过"的 v1 新 API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716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基线：## 切分 → FAISS 稠密 top-5 → qwen-plus；对照：同 LLM 不接检索直接答。25 条全量产出。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0066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RAG 赢 · 裸 LLM 产生事实性幻觉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4765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q001 · L1 · create_agent 导入路径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8194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RAG：</a:t>
            </a: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from langchain.agents import create_agent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裸 LLM：写成 initialize_agent / Agent.from_llm_and_tools，并称 create_agent 不存在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q004 · L1 · PIIMiddleware 处理策略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8989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RAG：</a:t>
            </a: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redact / mask / hash / block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裸 LLM：声称"PIIMiddleware 不是标准中间件"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6355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对照 q005（2-Step vs Agentic RAG）属通用概念，裸 LLM 也能答对——失效集中在 v1 新 API。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7361">
            <a:off x="4495800" y="3727462"/>
            <a:ext cx="345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04000" y="20066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RAG 也没搞定 · L3/L4 残留问题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2476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q024 · L4 · LangSmith 失败归因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28194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未召回 06_tracing 的追踪片段（gold c004/c005），转召回评估类片段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→ 检索失败</a:t>
            </a:r>
            <a:r>
              <a:rPr lang="en-US" sz="11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，回答"根据资料无法回答"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604000" y="3556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dirty="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q019 · L4 · v0.x→v1 </a:t>
            </a:r>
            <a:r>
              <a:rPr lang="en-US" sz="1200" b="1" i="0" u="none" strike="noStrike" dirty="0" err="1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迁移风险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6604000" y="38989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已召回迁移指南片段（含</a:t>
            </a:r>
            <a:r>
              <a:rPr lang="en-US" sz="11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gold c001）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 dirty="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→ </a:t>
            </a:r>
            <a:r>
              <a:rPr lang="en-US" sz="1100" b="0" i="0" u="none" strike="noStrike" dirty="0" err="1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召回了但生成拒答</a:t>
            </a:r>
            <a:endParaRPr lang="en-US" sz="1100" b="0" i="0" u="none" strike="noStrike" dirty="0">
              <a:solidFill>
                <a:srgbClr val="C9302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635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剩余瓶颈：L3/L4 复杂问题召回不足 + 生成拒答——这正是后面 T2–T5 要逐个撬动的杠杆。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6032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证据：results</a:t>
            </a:r>
            <a:r>
              <a:rPr lang="en-US" sz="100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/t1_baseline.jsonl 与 results/t1_bare_llm.jsonl，25 </a:t>
            </a:r>
            <a:r>
              <a:rPr lang="en-US" sz="100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条全量；chunk</a:t>
            </a:r>
            <a:r>
              <a:rPr lang="en-US" sz="100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00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级溯源可定位到</a:t>
            </a:r>
            <a:r>
              <a:rPr lang="en-US" sz="100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 doc_id#c00x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T2 · 索引模块 · 分块策略网格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sliding-256-0 把 Recall@5 从 0.56 拉到 0.88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714500"/>
            <a:ext cx="7112000" cy="355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128000" y="17780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图 2　切分方法 × chunk_size × overlap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0" y="2286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0.88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0" y="29464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最优 sliding-256-0 Recall@5（默认 header 为 0.56）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3222">
            <a:off x="8128012" y="33972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128000" y="3556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41666"/>
              </a:lnSpc>
              <a:buClr>
                <a:srgbClr val="334155"/>
              </a:buClr>
              <a:buChar char="•"/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1024 大块普遍掉到 0.36–0.44</a:t>
            </a:r>
            <a:endParaRPr lang="en-US" sz="1100"/>
          </a:p>
          <a:p>
            <a:pPr marL="152400" indent="-152400" algn="l">
              <a:lnSpc>
                <a:spcPct val="141666"/>
              </a:lnSpc>
              <a:buClr>
                <a:srgbClr val="334155"/>
              </a:buClr>
              <a:buChar char="•"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256 小块整体优于 512 / 1024</a:t>
            </a:r>
          </a:p>
          <a:p>
            <a:pPr marL="152400" indent="-152400" algn="l">
              <a:lnSpc>
                <a:spcPct val="141666"/>
              </a:lnSpc>
              <a:buClr>
                <a:srgbClr val="334155"/>
              </a:buClr>
              <a:buChar char="•"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overlap=128 无一致收益，sliding-256-128 反降到 0.56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归因：</a:t>
            </a: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语料是短小、主题分明的技术文档，"一段一主题"的小块 + 无重叠滑动窗口最贴合；大块会把多个 ## 主题合并进同一 chunk，gold 片段与无关内容共存，Recall 被噪声稀释（recursive-1024 仅 0.36）。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6350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口径：固定检索与生成，仅改索引切分；网格为控制 LLM 打分成本未算答案正确性（--skip-answer），结论以 Recall@5 为准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T3 · 检索前优化 · 查询分解与融合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子查询分解 +0.16，多路融合过了头反而是负优化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103735"/>
              </p:ext>
            </p:extLst>
          </p:nvPr>
        </p:nvGraphicFramePr>
        <p:xfrm>
          <a:off x="762000" y="1841500"/>
          <a:ext cx="4826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策略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Recall@5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Δ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baseline </a:t>
                      </a:r>
                      <a:r>
                        <a:rPr lang="en-US" sz="1100" b="0" i="0" u="none" strike="noStrike" dirty="0" err="1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原始查询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0.56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94A3B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query rewrite 改写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+0.08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multi-query 多查询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+0.08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sub-query 子查询分解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0.72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+0.16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multi-query + dense + sparse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0.60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+0.04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58" r="58"/>
          <a:stretch>
            <a:fillRect/>
          </a:stretch>
        </p:blipFill>
        <p:spPr>
          <a:xfrm>
            <a:off x="5969000" y="1841500"/>
            <a:ext cx="5461000" cy="312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5016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RRF 权重扫描：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α（稠密权重）∈ [0.5, 0.7] 时 Recall@5 最高 </a:t>
            </a: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0.68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；纯稀疏 0.48、纯稠密 0.56 都低于混合。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反例：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"多查询 + 双路"反而掉到 0.60——k 固定时多路融合引入冗余，查询改写不是越多越好。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T4 · 检索策略 · BM25 / FAISS / RRF 混合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混合检索赢在前位排序，深召回靠稠密就够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714500"/>
            <a:ext cx="6096000" cy="381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12000" y="1778000"/>
          <a:ext cx="4318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dense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sparse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hybrid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Recall@1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0.12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0.16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0.20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Recall@3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0.36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Recall@5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0.56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0.68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Recall@10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0.92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0.72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0.88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MRR@10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0.327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0.309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0.376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112000" y="42545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dense 占优：</a:t>
            </a:r>
            <a:r>
              <a:rPr lang="en-US" sz="11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语义相近但字面不重叠（q006 trigger 参数）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1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sparse 占优：</a:t>
            </a:r>
            <a:r>
              <a:rPr lang="en-US" sz="11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专有名词 / 钩子名（q015 beforeModel）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571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混合在 Recall@5 与 MRR@10 均最高，价值集中在 top 前位排序；但 Recall@10 稠密 0.92 反超混合 0.88——深召回单靠稠密已足够。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T5 · 检索后优化 · 重排序与压缩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重排在中文小语料上是负优化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464522"/>
              </p:ext>
            </p:extLst>
          </p:nvPr>
        </p:nvGraphicFramePr>
        <p:xfrm>
          <a:off x="762000" y="1841500"/>
          <a:ext cx="7620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变体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Recall@3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Context token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平均延迟(s)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top3_direct 直接取前 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459.52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0.22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top5_rule_top3 规则重排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459.52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0.21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top5_llmjudge_top3 LLM Judge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483.40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1.95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top5_crossencoder_top3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528.84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20.77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top5_crossencoder_compress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162.36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17.50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8763000" y="19050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-0.08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763000" y="2603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Cross-Encoder 重排 Recall@3 不升反降（0.48→0.40）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763000" y="3492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-69%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63000" y="41910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压缩把 Context token 从 528 降到 162，但延迟代价过大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规则重排与 LLM Judge 重排均未改变 Recall@3（仍 0.48）；Cross-Encoder 因逐条 CPU 加载模型，延迟高达 20.77 s 且效果反降。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在小规模中文语料上，"省下的 token 不划算"——重排与压缩都不是默认该开的杠杆，必须用延迟-质量权衡来验证。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T7 · 系统级评估 · header 切分 + 混合 top-5 + qwen-plus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生成侧已接近天花板，检索短板在 L3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714500"/>
            <a:ext cx="5588000" cy="349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731000" y="17145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图 5 · 分层检索指标（L1–L4）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31000" y="2159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0.68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731000" y="27686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总体 Recall@5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382000" y="2159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0.355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82000" y="27686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总体 MRR@10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033000" y="2159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4.72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033000" y="27686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Correctness / 5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731009" y="3232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731000" y="34290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41666"/>
              </a:lnSpc>
              <a:buClr>
                <a:srgbClr val="C9302C"/>
              </a:buClr>
              <a:buChar char="•"/>
              <a:defRPr/>
            </a:pPr>
            <a:r>
              <a:rPr lang="en-US" sz="12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L3 检索最弱：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Recall@5=0.50、MRR@10=0.153，是检索端短板</a:t>
            </a:r>
            <a:endParaRPr lang="en-US" sz="1100"/>
          </a:p>
          <a:p>
            <a:pPr marL="152400" indent="-152400" algn="l">
              <a:lnSpc>
                <a:spcPct val="141666"/>
              </a:lnSpc>
              <a:buClr>
                <a:srgbClr val="C9302C"/>
              </a:buClr>
              <a:buChar char="•"/>
            </a:pPr>
            <a:r>
              <a:rPr lang="en-US" sz="12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L4 生成正确性最低：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Correctness 仅 4.14/5（Faithfulness 仍 5.0）</a:t>
            </a:r>
          </a:p>
          <a:p>
            <a:pPr marL="152400" indent="-152400" algn="l">
              <a:lnSpc>
                <a:spcPct val="141666"/>
              </a:lnSpc>
              <a:buClr>
                <a:srgbClr val="334155"/>
              </a:buClr>
              <a:buChar char="•"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生成侧 Faithfulness 总体 4.92/5，已接近天花板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下一步指向：</a:t>
            </a: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L3 增加查询分解与更强 rerank；L4 用更强模型或 CoT / 要点式提示；先修正 gold_chunk_ids 标注错位再下结论（见下页归因）。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T8-1 · 加分项 · RAG-HAT 信息充分性检测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先判断"资料够不够"，不够就保守拒答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841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方法 · 在生成前加一层拦截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召回 top-k → </a:t>
            </a: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信息充分性检测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→ 足以回答？</a:t>
            </a:r>
            <a:endParaRPr lang="en-US" sz="1100"/>
          </a:p>
          <a:p>
            <a:pPr marL="165100" indent="-165100" algn="l">
              <a:lnSpc>
                <a:spcPct val="150000"/>
              </a:lnSpc>
              <a:buClr>
                <a:srgbClr val="334155"/>
              </a:buClr>
              <a:buChar char="•"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是：正常交给 qwen-plus 生成</a:t>
            </a:r>
          </a:p>
          <a:p>
            <a:pPr marL="165100" indent="-165100" algn="l">
              <a:lnSpc>
                <a:spcPct val="150000"/>
              </a:lnSpc>
              <a:buClr>
                <a:srgbClr val="334155"/>
              </a:buClr>
              <a:buChar char="•"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否：拦截并返回"根据现有资料无法回答"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610740"/>
              </p:ext>
            </p:extLst>
          </p:nvPr>
        </p:nvGraphicFramePr>
        <p:xfrm>
          <a:off x="6350000" y="1905000"/>
          <a:ext cx="5080000" cy="190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变体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幻觉率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忠实度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拦截率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baseline 无检测层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0.02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4.92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94A3B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with_guard 检测层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0.01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4.96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8%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6350000" y="4064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25 条中 2 条被判定资料不足并拦截；幻觉率 = (5 − Faithfulness) / 4。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092">
            <a:off x="762004" y="507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62000" y="533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判断：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基线幻觉率本身已很低（0.02），检测层的边际收益有限；它的真正价值是</a:t>
            </a: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对"资料不足"问题做保守拦截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，避免模型在没有依据时硬编答案——这比追求更低的幻觉率更重要。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234EFAC4-C51E-D92C-FFD0-76196EE8AC44}"/>
              </a:ext>
            </a:extLst>
          </p:cNvPr>
          <p:cNvSpPr/>
          <p:nvPr/>
        </p:nvSpPr>
        <p:spPr>
          <a:xfrm>
            <a:off x="6350000" y="4699000"/>
            <a:ext cx="5349600" cy="101600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6BD09E1-1E25-4166-5342-658E1E7BD9DC}"/>
              </a:ext>
            </a:extLst>
          </p:cNvPr>
          <p:cNvSpPr/>
          <p:nvPr/>
        </p:nvSpPr>
        <p:spPr>
          <a:xfrm>
            <a:off x="6350000" y="3505200"/>
            <a:ext cx="5349600" cy="101600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9AC520A2-5424-8E24-B373-674AAB9C6BE9}"/>
              </a:ext>
            </a:extLst>
          </p:cNvPr>
          <p:cNvSpPr/>
          <p:nvPr/>
        </p:nvSpPr>
        <p:spPr>
          <a:xfrm>
            <a:off x="6342200" y="2311400"/>
            <a:ext cx="5349600" cy="101600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CB78681-5F61-C2C4-0AED-728AC7CF2B86}"/>
              </a:ext>
            </a:extLst>
          </p:cNvPr>
          <p:cNvSpPr/>
          <p:nvPr/>
        </p:nvSpPr>
        <p:spPr>
          <a:xfrm>
            <a:off x="627200" y="4646666"/>
            <a:ext cx="5349600" cy="101600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1FBCCE9-CF6D-DFA6-2F05-C8908FB0FF36}"/>
              </a:ext>
            </a:extLst>
          </p:cNvPr>
          <p:cNvSpPr/>
          <p:nvPr/>
        </p:nvSpPr>
        <p:spPr>
          <a:xfrm>
            <a:off x="627200" y="3505200"/>
            <a:ext cx="5349600" cy="101600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C857A61-1C2C-43FF-F11C-740C341293E3}"/>
              </a:ext>
            </a:extLst>
          </p:cNvPr>
          <p:cNvSpPr/>
          <p:nvPr/>
        </p:nvSpPr>
        <p:spPr>
          <a:xfrm>
            <a:off x="632102" y="2349500"/>
            <a:ext cx="5349600" cy="101600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762000" y="457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 · 有效杠杆 vs 负优化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真正赚钱的杠杆只有三个，其余都是开销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真有效 · 值得默认开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3495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分块策略 sliding-256-0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2730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Recall@5 </a:t>
            </a:r>
            <a:r>
              <a:rPr lang="en-US" sz="11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从默认</a:t>
            </a:r>
            <a:r>
              <a:rPr lang="en-US" sz="11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 header 的 0.56 → 0.88（+0.32），</a:t>
            </a:r>
            <a:r>
              <a:rPr lang="en-US" sz="11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本次性价比最高的单项优化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762000" y="3492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70000" y="34925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BM25 + Dense 混合检索（RRF）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3873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Recall@5 0.68、MRR@10 0.376，优于单路；价值集中在前位排序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635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000" y="46355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子查询分解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70000" y="5016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Recall@5 +0.16；RRF 稠密权重 α ∈ [0.5, 0.7] 最优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8540">
            <a:off x="4318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1778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负优化 · 默认不该开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2349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2349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Cross-Encoder 重排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0" y="2730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Recall@3 0.48 → 0.40，平均延迟 20.77 s（CPU 逐条加载）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3492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×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3492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规则重排 / LLM Judge 重排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12000" y="3873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Recall@3 零收益，与直接取 top-3 持平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4635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×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4635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上下文压缩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0" y="5016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token 省 69%，但延迟 17.5 s——省下的 token 不划算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6032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共同规律：低成本、结构性的杠杆（切分、融合、查询分解）收益大；重模型、高延迟的杠杆（rerank、压缩）在小语料上不划算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FAILURE ANALYSIS · 最差 5 条归因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5 条零召回里，4 条是 gold 标注错位，不是检索器的锅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329887"/>
              </p:ext>
            </p:extLst>
          </p:nvPr>
        </p:nvGraphicFramePr>
        <p:xfrm>
          <a:off x="762000" y="1778000"/>
          <a:ext cx="10668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题号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答案实际所在片段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gold_chunk_ids</a:t>
                      </a: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en-US" sz="11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误标为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归因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q002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05_text_splitters#c006（默认参数）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05_text_splitters#c005（结构分割）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标注错位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q003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01_framework_architecture#c002（三层抽象）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#c001（标题块）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标注错位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q013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01_retrieval_overview#c006（架构对比）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#c005（检索管道）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标注错位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q023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03_context_engineering#c004（关键决策）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#c003（中间件作用）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标注错位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q020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—（gold 引用了不存在的片段）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08_evaluation#c006 不存在；#c001 为标题块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 err="1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标注错误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5080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唯一真实生成失败：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q019（L4）检索已命中 gold，但生成拒答，Correctness 仅 2 分。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启示：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Recall 被标注噪声系统性低估——先修 gold_chunk_ids 再下结论，否则会把"评测集自己的问题"误判成"检索器的问题"。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NEXT STEPS · 当前瓶颈与改进路径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四个明确的下一步，按优先级排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19685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先修评测集 gold_chunk_ids 标注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23495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5 条零召回中 4 条是标注错位，Recall 被系统性低估；不修正就无法判断后续改动是否真有效。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092">
            <a:off x="762004" y="291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3111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3175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L3 检索：加查询分解 + 更强的中文 rerank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24000" y="35560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L3 Recall@5 仅 0.50、MRR@10 仅 0.153；引入 bge-reranker-v2-m3 中文版并常驻缓存模型，避免 20 s 逐条加载。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092">
            <a:off x="762004" y="4121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62000" y="4318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43815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L4 生成：更强模型或 CoT / 要点式提示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24000" y="47625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L4 Correctness 仅 4.14（Faithfulness 仍 5.0）——不是乱编，是没答对；换更强模型或要点式评分提示。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532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62000" y="5524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524000" y="5588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评测集扩到 40–60 条，做显著性讨论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524000" y="59690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25 条样本下，0.02–0.04 的波动可能不显著；扩充样本后再下"提升 / 下降"的结论，避免把噪声当信号。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CONCLUSION · 结论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397000"/>
            <a:ext cx="1041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从"拼一段上下文给 LLM"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到"检索质量决定上限"</a:t>
            </a:r>
          </a:p>
        </p:txBody>
      </p:sp>
      <p:cxnSp>
        <p:nvCxnSpPr>
          <p:cNvPr id="5" name="Connector 5"/>
          <p:cNvCxnSpPr/>
          <p:nvPr/>
        </p:nvCxnSpPr>
        <p:spPr>
          <a:xfrm rot="-28647">
            <a:off x="1016026" y="3422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3746500"/>
            <a:ext cx="1041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500" b="0" i="0" u="none" strike="noStrike">
                <a:solidFill>
                  <a:srgbClr val="DBE4F2"/>
                </a:solidFill>
                <a:latin typeface="Noto Sans SC"/>
                <a:ea typeface="Noto Sans SC"/>
                <a:cs typeface="Noto Sans SC"/>
                <a:sym typeface="Noto Sans SC"/>
              </a:rPr>
              <a:t>·　分块与检索融合是</a:t>
            </a:r>
            <a:r>
              <a:rPr lang="en-US" sz="1500" b="1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低成本、高收益</a:t>
            </a:r>
            <a:r>
              <a:rPr lang="en-US" sz="1500" b="0" i="0" u="none" strike="noStrike">
                <a:solidFill>
                  <a:srgbClr val="DBE4F2"/>
                </a:solidFill>
                <a:latin typeface="Noto Sans SC"/>
                <a:ea typeface="Noto Sans SC"/>
                <a:cs typeface="Noto Sans SC"/>
                <a:sym typeface="Noto Sans SC"/>
              </a:rPr>
              <a:t>的杠杆，优先级高于一切花哨模块</a:t>
            </a:r>
            <a:endParaRPr lang="en-US" sz="1100"/>
          </a:p>
          <a:p>
            <a:pPr marL="0" indent="0" algn="l">
              <a:lnSpc>
                <a:spcPct val="158333"/>
              </a:lnSpc>
            </a:pPr>
            <a:r>
              <a:rPr lang="en-US" sz="1500" b="0" i="0" u="none" strike="noStrike">
                <a:solidFill>
                  <a:srgbClr val="DBE4F2"/>
                </a:solidFill>
                <a:latin typeface="Noto Sans SC"/>
                <a:ea typeface="Noto Sans SC"/>
                <a:cs typeface="Noto Sans SC"/>
                <a:sym typeface="Noto Sans SC"/>
              </a:rPr>
              <a:t>·　重排与压缩并非万能，必须用</a:t>
            </a:r>
            <a:r>
              <a:rPr lang="en-US" sz="1500" b="1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延迟-质量权衡</a:t>
            </a:r>
            <a:r>
              <a:rPr lang="en-US" sz="1500" b="0" i="0" u="none" strike="noStrike">
                <a:solidFill>
                  <a:srgbClr val="DBE4F2"/>
                </a:solidFill>
                <a:latin typeface="Noto Sans SC"/>
                <a:ea typeface="Noto Sans SC"/>
                <a:cs typeface="Noto Sans SC"/>
                <a:sym typeface="Noto Sans SC"/>
              </a:rPr>
              <a:t>来验证，否则就是负优化</a:t>
            </a:r>
          </a:p>
          <a:p>
            <a:pPr marL="0" indent="0" algn="l">
              <a:lnSpc>
                <a:spcPct val="158333"/>
              </a:lnSpc>
            </a:pPr>
            <a:r>
              <a:rPr lang="en-US" sz="1500" b="0" i="0" u="none" strike="noStrike">
                <a:solidFill>
                  <a:srgbClr val="DBE4F2"/>
                </a:solidFill>
                <a:latin typeface="Noto Sans SC"/>
                <a:ea typeface="Noto Sans SC"/>
                <a:cs typeface="Noto Sans SC"/>
                <a:sym typeface="Noto Sans SC"/>
              </a:rPr>
              <a:t>·　RAG 解决的是时效性 / 私有知识的</a:t>
            </a:r>
            <a:r>
              <a:rPr lang="en-US" sz="1500" b="1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"知不知道"</a:t>
            </a:r>
            <a:r>
              <a:rPr lang="en-US" sz="1500" b="0" i="0" u="none" strike="noStrike">
                <a:solidFill>
                  <a:srgbClr val="DBE4F2"/>
                </a:solidFill>
                <a:latin typeface="Noto Sans SC"/>
                <a:ea typeface="Noto Sans SC"/>
                <a:cs typeface="Noto Sans SC"/>
                <a:sym typeface="Noto Sans SC"/>
              </a:rPr>
              <a:t>，不是让模型更聪明</a:t>
            </a:r>
          </a:p>
          <a:p>
            <a:pPr marL="0" indent="0" algn="l">
              <a:lnSpc>
                <a:spcPct val="158333"/>
              </a:lnSpc>
            </a:pPr>
            <a:r>
              <a:rPr lang="en-US" sz="1500" b="0" i="0" u="none" strike="noStrike">
                <a:solidFill>
                  <a:srgbClr val="DBE4F2"/>
                </a:solidFill>
                <a:latin typeface="Noto Sans SC"/>
                <a:ea typeface="Noto Sans SC"/>
                <a:cs typeface="Noto Sans SC"/>
                <a:sym typeface="Noto Sans SC"/>
              </a:rPr>
              <a:t>·　幻觉治理最终仍要靠</a:t>
            </a:r>
            <a:r>
              <a:rPr lang="en-US" sz="1500" b="1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证据约束</a:t>
            </a:r>
            <a:r>
              <a:rPr lang="en-US" sz="1500" b="0" i="0" u="none" strike="noStrike">
                <a:solidFill>
                  <a:srgbClr val="DBE4F2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——先检测信息是否充分，再决定生成</a:t>
            </a:r>
          </a:p>
        </p:txBody>
      </p:sp>
      <p:sp>
        <p:nvSpPr>
          <p:cNvPr id="7" name="AutoShape 7"/>
          <p:cNvSpPr/>
          <p:nvPr/>
        </p:nvSpPr>
        <p:spPr>
          <a:xfrm>
            <a:off x="1016000" y="63500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汇报人：刘嘉豪（12026219156） · </a:t>
            </a:r>
            <a:r>
              <a:rPr lang="en-US" sz="110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大规模语言模型：从理论到实践</a:t>
            </a:r>
            <a:r>
              <a:rPr lang="en-US" sz="110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 · 2026-09-28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2249</Words>
  <Application>Microsoft Office PowerPoint</Application>
  <PresentationFormat>宽屏</PresentationFormat>
  <Paragraphs>346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Noto Sans SC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嘉豪 刘</cp:lastModifiedBy>
  <cp:revision>3</cp:revision>
  <dcterms:modified xsi:type="dcterms:W3CDTF">2026-09-28T09:25:35Z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{"Label":"1","ContentProducer":"001191110102MACQD9K64010000","ProduceID":"7690502998079032250","ReservedCode1":"","ContentPropagator":"","PropagateID":"","ReservedCode2":""}</vt:lpwstr>
  </property>
</Properties>
</file>